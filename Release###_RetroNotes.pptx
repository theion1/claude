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2xl9+w94bTPC0UTwULsoMb6h5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/>
          <p:nvPr/>
        </p:nvSpPr>
        <p:spPr>
          <a:xfrm>
            <a:off x="4000500" y="1087403"/>
            <a:ext cx="8191500" cy="5770597"/>
          </a:xfrm>
          <a:custGeom>
            <a:rect b="b" l="l" r="r" t="t"/>
            <a:pathLst>
              <a:path extrusionOk="0" h="21600" w="2160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3" name="Google Shape;13;p10"/>
          <p:cNvCxnSpPr/>
          <p:nvPr/>
        </p:nvCxnSpPr>
        <p:spPr>
          <a:xfrm flipH="1">
            <a:off x="406240" y="183933"/>
            <a:ext cx="1" cy="1597709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14" name="Google Shape;14;p10"/>
          <p:cNvSpPr/>
          <p:nvPr/>
        </p:nvSpPr>
        <p:spPr>
          <a:xfrm>
            <a:off x="5292347" y="1"/>
            <a:ext cx="2279743" cy="1267786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10208694" y="1"/>
            <a:ext cx="1135067" cy="47799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" name="Google Shape;16;p10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" name="Google Shape;17;p10"/>
          <p:cNvSpPr/>
          <p:nvPr/>
        </p:nvSpPr>
        <p:spPr>
          <a:xfrm flipH="1">
            <a:off x="0" y="2949739"/>
            <a:ext cx="1186452" cy="1771651"/>
          </a:xfrm>
          <a:custGeom>
            <a:rect b="b" l="l" r="r" t="t"/>
            <a:pathLst>
              <a:path extrusionOk="0" h="21600" w="2160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8" name="Google Shape;18;p10"/>
          <p:cNvSpPr/>
          <p:nvPr/>
        </p:nvSpPr>
        <p:spPr>
          <a:xfrm rot="-5400000">
            <a:off x="1539682" y="4203427"/>
            <a:ext cx="2041718" cy="204171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noFill/>
          <a:ln cap="rnd" cmpd="sng" w="127000">
            <a:solidFill>
              <a:schemeClr val="accent4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" name="Google Shape;19;p10"/>
          <p:cNvSpPr txBox="1"/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wentieth Century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2pPr>
            <a:lvl3pPr indent="-228600" lvl="2" marL="1371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3pPr>
            <a:lvl4pPr indent="-228600" lvl="3" marL="18288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4pPr>
            <a:lvl5pPr indent="-228600" lvl="4" marL="22860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" name="Google Shape;24;p11"/>
          <p:cNvSpPr/>
          <p:nvPr/>
        </p:nvSpPr>
        <p:spPr>
          <a:xfrm rot="-1790889">
            <a:off x="9735982" y="660555"/>
            <a:ext cx="1659892" cy="2234040"/>
          </a:xfrm>
          <a:custGeom>
            <a:rect b="b" l="l" r="r" t="t"/>
            <a:pathLst>
              <a:path extrusionOk="0" h="20833" w="21269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noFill/>
          <a:ln cap="rnd" cmpd="sng" w="127000">
            <a:solidFill>
              <a:schemeClr val="accent4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" name="Google Shape;25;p11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" name="Google Shape;26;p11"/>
          <p:cNvSpPr txBox="1"/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12"/>
          <p:cNvSpPr/>
          <p:nvPr/>
        </p:nvSpPr>
        <p:spPr>
          <a:xfrm>
            <a:off x="10494433" y="2"/>
            <a:ext cx="849329" cy="35766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4" name="Google Shape;34;p12"/>
          <p:cNvSpPr/>
          <p:nvPr/>
        </p:nvSpPr>
        <p:spPr>
          <a:xfrm flipH="1">
            <a:off x="123535" y="5717904"/>
            <a:ext cx="1771611" cy="1140097"/>
          </a:xfrm>
          <a:custGeom>
            <a:rect b="b" l="l" r="r" t="t"/>
            <a:pathLst>
              <a:path extrusionOk="0" h="21593" w="21544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small pictures" showMasterSp="0">
  <p:cSld name="Title and Content 2 small picture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>
            <p:ph idx="2" type="pic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3"/>
          <p:cNvSpPr/>
          <p:nvPr>
            <p:ph idx="3" type="pic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3"/>
          <p:cNvSpPr txBox="1"/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" type="body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2pPr>
            <a:lvl3pPr indent="-3810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3pPr>
            <a:lvl4pPr indent="-3810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4pPr>
            <a:lvl5pPr indent="-3810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13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2" name="Google Shape;42;p13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" name="Google Shape;45;p14"/>
          <p:cNvSpPr/>
          <p:nvPr/>
        </p:nvSpPr>
        <p:spPr>
          <a:xfrm flipH="1" rot="-1577571">
            <a:off x="1900746" y="906095"/>
            <a:ext cx="3085935" cy="1961631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noFill/>
          <a:ln cap="rnd" cmpd="sng" w="127000">
            <a:solidFill>
              <a:schemeClr val="accent4">
                <a:alpha val="94901"/>
              </a:schemeClr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" name="Google Shape;46;p14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" name="Google Shape;47;p14"/>
          <p:cNvSpPr txBox="1"/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wentieth Century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  <a:defRPr sz="24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5"/>
          <p:cNvSpPr txBox="1"/>
          <p:nvPr>
            <p:ph idx="1" type="body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 with picture" showMasterSp="0">
  <p:cSld name="Quote slide with picture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/>
          <p:nvPr>
            <p:ph idx="2" type="pic"/>
          </p:nvPr>
        </p:nvSpPr>
        <p:spPr>
          <a:xfrm>
            <a:off x="0" y="1"/>
            <a:ext cx="12192000" cy="6858001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6"/>
          <p:cNvSpPr txBox="1"/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venir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200" u="none" cap="none" strike="noStrike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3 column">
  <p:cSld name="Comparison 3 colum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2" type="body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9"/>
          <p:cNvSpPr txBox="1"/>
          <p:nvPr>
            <p:ph idx="3" type="body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2 medium pictures" showMasterSp="0">
  <p:cSld name="Title and Content with 2 medium picture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/>
          <p:nvPr>
            <p:ph idx="2" type="pic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0"/>
          <p:cNvSpPr/>
          <p:nvPr>
            <p:ph idx="3" type="pic"/>
          </p:nvPr>
        </p:nvSpPr>
        <p:spPr>
          <a:xfrm>
            <a:off x="6261608" y="-1"/>
            <a:ext cx="3519313" cy="3007911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" name="Google Shape;78;p20"/>
          <p:cNvSpPr/>
          <p:nvPr/>
        </p:nvSpPr>
        <p:spPr>
          <a:xfrm flipH="1" rot="-6040930">
            <a:off x="5896042" y="1918749"/>
            <a:ext cx="1820521" cy="1157248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noFill/>
          <a:ln cap="rnd" cmpd="sng" w="127000">
            <a:solidFill>
              <a:schemeClr val="accent4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" name="Google Shape;79;p20"/>
          <p:cNvSpPr txBox="1"/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0"/>
          <p:cNvSpPr txBox="1"/>
          <p:nvPr>
            <p:ph idx="1" type="body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 showMasterSp="0">
  <p:cSld name="Closing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4" name="Google Shape;84;p21"/>
          <p:cNvSpPr/>
          <p:nvPr/>
        </p:nvSpPr>
        <p:spPr>
          <a:xfrm flipH="1">
            <a:off x="530529" y="-1"/>
            <a:ext cx="1155142" cy="591011"/>
          </a:xfrm>
          <a:custGeom>
            <a:rect b="b" l="l" r="r" t="t"/>
            <a:pathLst>
              <a:path extrusionOk="0" h="21600" w="2160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5" name="Google Shape;85;p21"/>
          <p:cNvSpPr/>
          <p:nvPr/>
        </p:nvSpPr>
        <p:spPr>
          <a:xfrm flipH="1">
            <a:off x="3961510" y="-1"/>
            <a:ext cx="1737402" cy="9595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21"/>
          <p:cNvSpPr/>
          <p:nvPr/>
        </p:nvSpPr>
        <p:spPr>
          <a:xfrm flipH="1">
            <a:off x="0" y="2936831"/>
            <a:ext cx="159742" cy="552997"/>
          </a:xfrm>
          <a:custGeom>
            <a:rect b="b" l="l" r="r" t="t"/>
            <a:pathLst>
              <a:path extrusionOk="0" h="21600" w="2160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21"/>
          <p:cNvSpPr/>
          <p:nvPr/>
        </p:nvSpPr>
        <p:spPr>
          <a:xfrm flipH="1">
            <a:off x="0" y="5835648"/>
            <a:ext cx="1548181" cy="1022352"/>
          </a:xfrm>
          <a:custGeom>
            <a:rect b="b" l="l" r="r" t="t"/>
            <a:pathLst>
              <a:path extrusionOk="0" h="21600" w="2160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8" name="Google Shape;88;p21"/>
          <p:cNvSpPr/>
          <p:nvPr/>
        </p:nvSpPr>
        <p:spPr>
          <a:xfrm flipH="1">
            <a:off x="3405056" y="5717904"/>
            <a:ext cx="1771610" cy="1140097"/>
          </a:xfrm>
          <a:custGeom>
            <a:rect b="b" l="l" r="r" t="t"/>
            <a:pathLst>
              <a:path extrusionOk="0" h="21593" w="21544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9" name="Google Shape;89;p21"/>
          <p:cNvSpPr/>
          <p:nvPr/>
        </p:nvSpPr>
        <p:spPr>
          <a:xfrm flipH="1">
            <a:off x="4132972" y="6258755"/>
            <a:ext cx="1565941" cy="599246"/>
          </a:xfrm>
          <a:custGeom>
            <a:rect b="b" l="l" r="r" t="t"/>
            <a:pathLst>
              <a:path extrusionOk="0" h="21600" w="2160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0" name="Google Shape;90;p21"/>
          <p:cNvSpPr txBox="1"/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21"/>
          <p:cNvSpPr txBox="1"/>
          <p:nvPr>
            <p:ph idx="1" type="body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None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venir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25"/>
          <p:cNvSpPr/>
          <p:nvPr>
            <p:ph idx="2" type="pic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venir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idx="12" type="sldNum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venir"/>
              <a:buNone/>
              <a:defRPr b="0" i="0" sz="12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9"/>
          <p:cNvSpPr/>
          <p:nvPr/>
        </p:nvSpPr>
        <p:spPr>
          <a:xfrm rot="-5400000">
            <a:off x="-388933" y="4841194"/>
            <a:ext cx="1737401" cy="959537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" name="Google Shape;8;p9"/>
          <p:cNvSpPr/>
          <p:nvPr/>
        </p:nvSpPr>
        <p:spPr>
          <a:xfrm>
            <a:off x="10494433" y="2"/>
            <a:ext cx="849329" cy="35766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" name="Google Shape;9;p9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wentieth Century"/>
              <a:buNone/>
              <a:defRPr b="0" i="0" sz="44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 txBox="1"/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wentieth Century"/>
              <a:buNone/>
            </a:pPr>
            <a:r>
              <a:rPr lang="en-US" sz="3200"/>
              <a:t>Release### Retro Notes</a:t>
            </a:r>
            <a:endParaRPr/>
          </a:p>
        </p:txBody>
      </p:sp>
      <p:sp>
        <p:nvSpPr>
          <p:cNvPr id="113" name="Google Shape;113;p1"/>
          <p:cNvSpPr txBox="1"/>
          <p:nvPr>
            <p:ph idx="1" type="body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venir"/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wentieth Century"/>
              <a:buNone/>
            </a:pPr>
            <a:r>
              <a:rPr lang="en-US" sz="3200"/>
              <a:t>Release### Retro: Agenda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Tasks Included in Release###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Release Timelines: Dev -&gt; Test -&gt; Prod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Feature Showcase Template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Bug Metrics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Commentary &amp; Next Steps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/>
              <a:t>Special Thanks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</a:pPr>
            <a:r>
              <a:rPr lang="en-US" sz="3200"/>
              <a:t>Tasks Included in Release###</a:t>
            </a:r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“Enable Live Currency-Hedged Reporting”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Critical Bug Fixes (e.g., Bug-123, Bug-456)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Performance Optimizations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Introduction of New UI Component X(?)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Database Schema Updates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</a:pPr>
            <a:r>
              <a:rPr lang="en-US" sz="3200"/>
              <a:t>Release### Timelines: From Dev to Prod</a:t>
            </a:r>
            <a:endParaRPr/>
          </a:p>
        </p:txBody>
      </p:sp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Average Time: Development to Testing: 7 days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Average Time: Testing to Production: 3 days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Key Milestones: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Development Complete: [Date]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QA Sign-off: [Date]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Production Release: [Date]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</a:pPr>
            <a:r>
              <a:rPr lang="en-US" sz="3200"/>
              <a:t>Feature Showcase Template</a:t>
            </a:r>
            <a:endParaRPr/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Feature Name: </a:t>
            </a:r>
            <a:r>
              <a:rPr lang="en-US" sz="2000"/>
              <a:t>“Enable Live Currency-Hedged Reporting”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Problem Solved: </a:t>
            </a:r>
            <a:endParaRPr sz="2000"/>
          </a:p>
          <a:p>
            <a:pPr indent="-2794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As an IAM portfolio manager accessing the web portal</a:t>
            </a:r>
            <a:endParaRPr sz="2000"/>
          </a:p>
          <a:p>
            <a:pPr indent="-279400" lvl="1" marL="7239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 want reports to show returns after FX hedging in real-time</a:t>
            </a:r>
            <a:endParaRPr sz="2000"/>
          </a:p>
          <a:p>
            <a:pPr indent="-279400" lvl="1" marL="7239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 that clients see performance net of currency risk.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Solution Overview: [High-level description of the feature's functionality]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Key Benefits/Impact: [Quantifiable or qualitative improvements, e.g., 'Reduced user task completion time by 15%']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Demo/Screenshots: [Placeholder for visual aids]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User Adoption/Feedback: [Initial feedback or adoption rates]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</a:pPr>
            <a:r>
              <a:rPr lang="en-US" sz="3200"/>
              <a:t>Release### Bug Metrics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Total Bugs Found During Release Cycle: 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Bugs Found in Production Post-Release: 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Breakdown by Severity (During Cycle):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P0</a:t>
            </a:r>
            <a:r>
              <a:rPr lang="en-US" sz="1800"/>
              <a:t>: 0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P1</a:t>
            </a:r>
            <a:r>
              <a:rPr lang="en-US" sz="1800"/>
              <a:t>: 2(1)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P2</a:t>
            </a:r>
            <a:r>
              <a:rPr lang="en-US" sz="1800"/>
              <a:t>: 1(2)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</a:pPr>
            <a:r>
              <a:rPr lang="en-US" sz="3200"/>
              <a:t>Commentary &amp; Next Steps</a:t>
            </a:r>
            <a:endParaRPr/>
          </a:p>
        </p:txBody>
      </p:sp>
      <p:sp>
        <p:nvSpPr>
          <p:cNvPr id="149" name="Google Shape;149;p7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Key Learnings: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What went well: 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/>
              <a:t>Areas for improvement: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Actionable Insights:</a:t>
            </a:r>
            <a:endParaRPr sz="2000"/>
          </a:p>
          <a:p>
            <a:pPr indent="-2794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Next Steps/Improvements:</a:t>
            </a:r>
            <a:endParaRPr/>
          </a:p>
          <a:p>
            <a:pPr indent="-266700" lvl="1" marL="723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wentieth Century"/>
              <a:buNone/>
            </a:pPr>
            <a:r>
              <a:rPr lang="en-US" sz="3200"/>
              <a:t>Special Thanks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the entire Development Team for their dedication and expertise.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the QA Team for their rigorous testing and valuable feedback.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Product Management for guiding the release scope.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[Specific Person/Team 1] for their crucial support.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To [Specific Person/Team 2] for their timely assistance.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